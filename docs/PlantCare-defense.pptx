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ac69d442584dbf" /><Relationship Type="http://schemas.openxmlformats.org/officeDocument/2006/relationships/extended-properties" Target="/docProps/app.xml" Id="R342b31ffb3e143ad" /><Relationship Type="http://schemas.openxmlformats.org/officeDocument/2006/relationships/officeDocument" Target="/ppt/presentation.xml" Id="R6e53e0f3a4d6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4a3480c5046e5"/>
  </p:sldMasterIdLst>
  <p:notesMasterIdLst>
    <p:notesMasterId xmlns:r="http://schemas.openxmlformats.org/officeDocument/2006/relationships" r:id="Rbb04d6e76ec044c3"/>
  </p:notesMasterIdLst>
  <p:sldIdLst>
    <p:sldId xmlns:r="http://schemas.openxmlformats.org/officeDocument/2006/relationships" id="256" r:id="R2b80c6dfb0ec4293"/>
    <p:sldId xmlns:r="http://schemas.openxmlformats.org/officeDocument/2006/relationships" id="257" r:id="Rf617b130713d4763"/>
    <p:sldId xmlns:r="http://schemas.openxmlformats.org/officeDocument/2006/relationships" id="258" r:id="R35187ac0c88940ba"/>
    <p:sldId xmlns:r="http://schemas.openxmlformats.org/officeDocument/2006/relationships" id="259" r:id="R60c221b229814339"/>
    <p:sldId xmlns:r="http://schemas.openxmlformats.org/officeDocument/2006/relationships" id="260" r:id="R795470d3ac384a48"/>
    <p:sldId xmlns:r="http://schemas.openxmlformats.org/officeDocument/2006/relationships" id="261" r:id="R4303603522f7454c"/>
    <p:sldId xmlns:r="http://schemas.openxmlformats.org/officeDocument/2006/relationships" id="262" r:id="R7f74a79afbe54e55"/>
    <p:sldId xmlns:r="http://schemas.openxmlformats.org/officeDocument/2006/relationships" id="263" r:id="R78c83ed713ee4a10"/>
    <p:sldId xmlns:r="http://schemas.openxmlformats.org/officeDocument/2006/relationships" id="264" r:id="Rbeb45faeed4d4970"/>
    <p:sldId xmlns:r="http://schemas.openxmlformats.org/officeDocument/2006/relationships" id="265" r:id="R2200eac5d7994afe"/>
    <p:sldId xmlns:r="http://schemas.openxmlformats.org/officeDocument/2006/relationships" id="266" r:id="R9b7aa167581a410f"/>
    <p:sldId xmlns:r="http://schemas.openxmlformats.org/officeDocument/2006/relationships" id="267" r:id="R07b68a0829c844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60b17a1d94849" /><Relationship Type="http://schemas.openxmlformats.org/officeDocument/2006/relationships/slideMaster" Target="/ppt/slideMasters/slideMaster1.xml" Id="R15e4a3480c5046e5" /><Relationship Type="http://schemas.openxmlformats.org/officeDocument/2006/relationships/notesMaster" Target="/ppt/notesMasters/notesMaster1.xml" Id="Rbb04d6e76ec044c3" /><Relationship Type="http://schemas.openxmlformats.org/officeDocument/2006/relationships/presProps" Target="/ppt/presProps.xml" Id="Ra87fce2cbc6e41e8" /><Relationship Type="http://schemas.openxmlformats.org/officeDocument/2006/relationships/viewProps" Target="/ppt/viewProps.xml" Id="R369fddbd4b0145af" /><Relationship Type="http://schemas.openxmlformats.org/officeDocument/2006/relationships/tableStyles" Target="/ppt/tableStyles.xml" Id="R9072b4563a754c96" /><Relationship Type="http://schemas.openxmlformats.org/officeDocument/2006/relationships/slide" Target="/ppt/slides/slide1.xml" Id="R2b80c6dfb0ec4293" /><Relationship Type="http://schemas.openxmlformats.org/officeDocument/2006/relationships/slide" Target="/ppt/slides/slide2.xml" Id="Rf617b130713d4763" /><Relationship Type="http://schemas.openxmlformats.org/officeDocument/2006/relationships/slide" Target="/ppt/slides/slide3.xml" Id="R35187ac0c88940ba" /><Relationship Type="http://schemas.openxmlformats.org/officeDocument/2006/relationships/slide" Target="/ppt/slides/slide4.xml" Id="R60c221b229814339" /><Relationship Type="http://schemas.openxmlformats.org/officeDocument/2006/relationships/slide" Target="/ppt/slides/slide5.xml" Id="R795470d3ac384a48" /><Relationship Type="http://schemas.openxmlformats.org/officeDocument/2006/relationships/slide" Target="/ppt/slides/slide6.xml" Id="R4303603522f7454c" /><Relationship Type="http://schemas.openxmlformats.org/officeDocument/2006/relationships/slide" Target="/ppt/slides/slide7.xml" Id="R7f74a79afbe54e55" /><Relationship Type="http://schemas.openxmlformats.org/officeDocument/2006/relationships/slide" Target="/ppt/slides/slide8.xml" Id="R78c83ed713ee4a10" /><Relationship Type="http://schemas.openxmlformats.org/officeDocument/2006/relationships/slide" Target="/ppt/slides/slide9.xml" Id="Rbeb45faeed4d4970" /><Relationship Type="http://schemas.openxmlformats.org/officeDocument/2006/relationships/slide" Target="/ppt/slides/slide10.xml" Id="R2200eac5d7994afe" /><Relationship Type="http://schemas.openxmlformats.org/officeDocument/2006/relationships/slide" Target="/ppt/slides/slide11.xml" Id="R9b7aa167581a410f" /><Relationship Type="http://schemas.openxmlformats.org/officeDocument/2006/relationships/slide" Target="/ppt/slides/slide12.xml" Id="R07b68a0829c844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3f4207b85f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60445316ab49a5" /><Relationship Type="http://schemas.openxmlformats.org/officeDocument/2006/relationships/notesMaster" Target="/ppt/notesMasters/notesMaster1.xml" Id="R98c8ae50890c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9affa7d21463e" /><Relationship Type="http://schemas.openxmlformats.org/officeDocument/2006/relationships/notesMaster" Target="/ppt/notesMasters/notesMaster1.xml" Id="R2a09e2bfa8c1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bb3fbc0a8b4c5c" /><Relationship Type="http://schemas.openxmlformats.org/officeDocument/2006/relationships/notesMaster" Target="/ppt/notesMasters/notesMaster1.xml" Id="R010dcf77d49a4b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463c275c7c465a" /><Relationship Type="http://schemas.openxmlformats.org/officeDocument/2006/relationships/notesMaster" Target="/ppt/notesMasters/notesMaster1.xml" Id="R1aca123e1dc54d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acef3aea8148f0" /><Relationship Type="http://schemas.openxmlformats.org/officeDocument/2006/relationships/notesMaster" Target="/ppt/notesMasters/notesMaster1.xml" Id="R68e1d6549b4642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ad80a04a443a4" /><Relationship Type="http://schemas.openxmlformats.org/officeDocument/2006/relationships/notesMaster" Target="/ppt/notesMasters/notesMaster1.xml" Id="R2f8dde14fd7849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8f0b0425a446c6" /><Relationship Type="http://schemas.openxmlformats.org/officeDocument/2006/relationships/notesMaster" Target="/ppt/notesMasters/notesMaster1.xml" Id="Reb2fe82d1dbd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0e14855f3344a8" /><Relationship Type="http://schemas.openxmlformats.org/officeDocument/2006/relationships/notesMaster" Target="/ppt/notesMasters/notesMaster1.xml" Id="R4f9844adc6b54b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1c9b3a8cf543aa" /><Relationship Type="http://schemas.openxmlformats.org/officeDocument/2006/relationships/notesMaster" Target="/ppt/notesMasters/notesMaster1.xml" Id="R619c09a98e0a49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d9ade3c1644755" /><Relationship Type="http://schemas.openxmlformats.org/officeDocument/2006/relationships/notesMaster" Target="/ppt/notesMasters/notesMaster1.xml" Id="Rd5cefcc9b19041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3bfa50b0b1481a" /><Relationship Type="http://schemas.openxmlformats.org/officeDocument/2006/relationships/notesMaster" Target="/ppt/notesMasters/notesMaster1.xml" Id="Rfcbcba1cf8464a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ad926edc1848a2" /><Relationship Type="http://schemas.openxmlformats.org/officeDocument/2006/relationships/notesMaster" Target="/ppt/notesMasters/notesMaster1.xml" Id="Rabd145a61e044c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809e8b29448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7a76ce17c4014" /><Relationship Type="http://schemas.openxmlformats.org/officeDocument/2006/relationships/slideLayout" Target="/ppt/slideLayouts/slideLayout1.xml" Id="R7c02741737e6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2741737e6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53486ea93418b" /><Relationship Type="http://schemas.openxmlformats.org/officeDocument/2006/relationships/notesSlide" Target="/ppt/notesSlides/notesSlide1.xml" Id="R54711d5640b349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5987f756c44d6" /><Relationship Type="http://schemas.openxmlformats.org/officeDocument/2006/relationships/notesSlide" Target="/ppt/notesSlides/notesSlide2.xml" Id="R7948c245d8ec48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3fdcfb9814150" /><Relationship Type="http://schemas.openxmlformats.org/officeDocument/2006/relationships/notesSlide" Target="/ppt/notesSlides/notesSlide3.xml" Id="R691c1ca81e5348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21d9c36884860" /><Relationship Type="http://schemas.openxmlformats.org/officeDocument/2006/relationships/notesSlide" Target="/ppt/notesSlides/notesSlide4.xml" Id="R69bdc02dcedd4e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7b07b361e4dcd" /><Relationship Type="http://schemas.openxmlformats.org/officeDocument/2006/relationships/notesSlide" Target="/ppt/notesSlides/notesSlide5.xml" Id="Rb08070f6419d42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08e20ad6c41e9" /><Relationship Type="http://schemas.openxmlformats.org/officeDocument/2006/relationships/notesSlide" Target="/ppt/notesSlides/notesSlide6.xml" Id="R896d9051779646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59a3c2ca34516" /><Relationship Type="http://schemas.openxmlformats.org/officeDocument/2006/relationships/notesSlide" Target="/ppt/notesSlides/notesSlide7.xml" Id="R17e89a193a2441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edfe345904364" /><Relationship Type="http://schemas.openxmlformats.org/officeDocument/2006/relationships/notesSlide" Target="/ppt/notesSlides/notesSlide8.xml" Id="Rc5f5550e2a6145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7461085b54b92" /><Relationship Type="http://schemas.openxmlformats.org/officeDocument/2006/relationships/notesSlide" Target="/ppt/notesSlides/notesSlide9.xml" Id="R2848b6cc2f0a4e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d5ba458a43f0" /><Relationship Type="http://schemas.openxmlformats.org/officeDocument/2006/relationships/notesSlide" Target="/ppt/notesSlides/notesSlide10.xml" Id="Re6f21a2aad1447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873b6a6b846d4" /><Relationship Type="http://schemas.openxmlformats.org/officeDocument/2006/relationships/notesSlide" Target="/ppt/notesSlides/notesSlide11.xml" Id="R8c10e0759c8d4b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10ba711f746ac" /><Relationship Type="http://schemas.openxmlformats.org/officeDocument/2006/relationships/notesSlide" Target="/ppt/notesSlides/notesSlide12.xml" Id="R4ee61f06759a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E348F8-B8D9-49EA-A463-CBCCEB4B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C24AA-1BE3-4ED6-BFED-3C4CA19B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2766C-32FA-42C9-93FF-7C81916F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Итоговый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621EC-2C1D-4FF6-B3E7-4F9D5FB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22472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ЗАЩИТА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6EB49-25A5-4C1B-9BF2-7D88835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9190"/>
            <a:ext cx="104775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PlantCare: сервис ухода за растениями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553FB-DDFD-4B5F-8FEC-4D88B0F6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72390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32C"/>
                </a:solidFill>
              </a:defRPr>
            </a:pPr>
            <a:r>
              <a:t>Домашние и балконные растения, задачи ухода, история, коллекции и погодные рекомендации Open-Meteo.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620A5-33F7-4011-BDF8-9C500704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3690"/>
            <a:ext cx="1401223" cy="2933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8AA8D-26C2-4D6E-BE6F-A5084833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0365"/>
            <a:ext cx="1134523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t>React + 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265DB-4A8C-4026-B719-9DB51742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923" y="2853690"/>
            <a:ext cx="1768126" cy="2933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77877-3098-40C8-9979-0EEC026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273" y="2920365"/>
            <a:ext cx="150142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t>Django REST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93B35-1EF2-49E3-8CAE-C0F03AC8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349" y="2853690"/>
            <a:ext cx="990410" cy="2933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BFABE-FCFE-4FFB-B035-6A9721F0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699" y="2920365"/>
            <a:ext cx="72371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A89D5-4B73-4712-A07D-AC975751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058" y="2853690"/>
            <a:ext cx="800291" cy="2933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7AB8C-D62B-46E8-A8C5-70816AF3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408" y="2920365"/>
            <a:ext cx="533591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t>OpenAPI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EDFAA-C2E0-4C81-B64A-6515DED1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649" y="2853690"/>
            <a:ext cx="693801" cy="4533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A4DB4-FF87-4761-ACD5-D35AA5B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999" y="2920365"/>
            <a:ext cx="427101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5CE62-1709-4116-96A8-F81760BB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6630"/>
            <a:ext cx="25019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4CC98-6717-4531-8DCF-FC62F77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8080"/>
            <a:ext cx="215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956F7-7EA6-4C19-ABE9-AC90FCFD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8130"/>
            <a:ext cx="215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backend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DF8AB-3B42-48D4-A409-71B86187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6730"/>
            <a:ext cx="215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pytest/DRF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2577E-8D26-4754-8EFB-6B3EE13F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00" y="3516630"/>
            <a:ext cx="25019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7352-A8B2-4162-BA1C-F881002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3688080"/>
            <a:ext cx="215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0916C"/>
                </a:solidFill>
              </a:defRPr>
            </a:pPr>
            <a:r>
              <a:t>92%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C6420-EE46-410B-8178-E1956D7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4088130"/>
            <a:ext cx="215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C7631-8F78-421D-B48A-52062736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4316730"/>
            <a:ext cx="215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backend app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AAE0B-0A6C-46BB-B038-8B7AC576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3516630"/>
            <a:ext cx="25019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31520-28C8-477A-93F9-3074451E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3688080"/>
            <a:ext cx="215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A86FF"/>
                </a:solidFill>
              </a:defRPr>
            </a:pPr>
            <a: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D22F3-6048-427B-8542-E81EC85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088130"/>
            <a:ext cx="215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Locust failures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F2EFE-475D-456A-B98D-5AD67F6B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316730"/>
            <a:ext cx="215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smoke run: 7 requests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1F888-0D5F-48D8-B9DD-EFD5B0D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92980"/>
            <a:ext cx="7239000" cy="6858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8392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44586-C35A-4923-8D63-F51D8A40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4430"/>
            <a:ext cx="6896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36D"/>
                </a:solidFill>
              </a:defRPr>
            </a:pPr>
            <a:r>
              <a:t>Главный тезис: это не абстрактный CRUD, а прикладной MVP с личными данными, расписанием ухода и внешней интеграцией.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F5560-7C52-432D-A544-09BD35F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57875"/>
            <a:ext cx="1004983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D6A4F"/>
                </a:solidFill>
              </a:defRPr>
            </a:pPr>
            <a:r>
              <a:t>Лолаев Р. А.</a:t>
            </a:r>
          </a:p>
        </p:txBody>
      </p:sp>
    </p:spTree>
    <p:extLst>
      <p:ext uri="{BB962C8B-B14F-4D97-AF65-F5344CB8AC3E}">
        <p14:creationId xmlns:p14="http://schemas.microsoft.com/office/powerpoint/2010/main" val="102059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18468-A6D0-4065-A215-C7E7CB3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86A6E-4EED-4AFF-932F-6824D2A1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06470-B0F5-4B11-AF8C-9FEADFC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Product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5B598-4482-4B3D-9219-A033702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40398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ЧТО УМЕЕТ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2D1E2-4331-41CA-872A-ACBA9A70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9170"/>
            <a:ext cx="104775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MVP закрывает полный цикл ухода, а не одну форму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51F8C-542A-413E-A3E1-5AE304A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4095750" cy="201930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DC084-90AB-415E-81E8-25B9ED45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599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B7497-FD19-42C2-ADE1-2932AAB0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294001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Пользовательская ценность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D228B-E1C7-492F-BB32-49F3A170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9855"/>
            <a:ext cx="762381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Пользователь видит каталог, добавляет свои растения, планирует уход, отмечает действия и понимает, когда поливать.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B55E5-2A91-4B2D-8136-8E3133D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4095750" cy="201930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9D1A9-AB14-4905-A815-1FADB18B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4B2A4-7F76-4B42-BC07-772FCDF7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4830"/>
            <a:ext cx="1590199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Отличие от todo-list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0289D-BED0-4EFC-8684-8D8EECC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665854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Есть предметная модель: вид растения, личное растение, график, история, коллекции и прогноз погоды.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EA93A-BB86-415E-820F-99F253B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52625"/>
            <a:ext cx="6286500" cy="41910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B9F27-1FE1-4C37-95A0-C8CBE83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81225"/>
            <a:ext cx="2174938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92B"/>
                </a:solidFill>
              </a:defRPr>
            </a:pPr>
            <a:r>
              <a:t>Основные сценарии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0239F-734D-40E2-9971-4793F16F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822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39541-25A4-43DC-878C-5596DDE7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82265"/>
            <a:ext cx="5657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32C"/>
                </a:solidFill>
              </a:defRPr>
            </a:pPr>
            <a:r>
              <a:t>Регистрация и вход в личный кабинет.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A551E-9EE6-4176-8E3A-6788165F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0ABB1-5572-403F-8540-7453657F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62300"/>
            <a:ext cx="5657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32C"/>
                </a:solidFill>
              </a:defRPr>
            </a:pPr>
            <a:r>
              <a:t>Добавление растений с видом, местом и интервалом полива.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59D59-BBD6-469B-A081-C6B50EEB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23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FA45E-D866-433D-AF4B-B9CC4D1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2335"/>
            <a:ext cx="5657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32C"/>
                </a:solidFill>
              </a:defRPr>
            </a:pPr>
            <a:r>
              <a:t>Календарь задач: полив, удобрение, пересадка, обрезка.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07FAB-4CFF-4466-B759-E326992C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223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115F1-4F2F-4E36-B6F9-F92BE1E4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22370"/>
            <a:ext cx="5657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32C"/>
                </a:solidFill>
              </a:defRPr>
            </a:pPr>
            <a:r>
              <a:t>История ухода и автоматическое обновление даты последнего полива.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BC596-958F-49E2-B412-4D5BA05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24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59274-D729-44C1-987F-618D787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2405"/>
            <a:ext cx="5657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32C"/>
                </a:solidFill>
              </a:defRPr>
            </a:pPr>
            <a:r>
              <a:t>Коллекции растений как many-to-many связь.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D5363-BB2F-4940-B06F-CB906F3C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824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7B82D-A870-4811-9B70-5477E45F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2440"/>
            <a:ext cx="56578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32C"/>
                </a:solidFill>
              </a:defRPr>
            </a:pPr>
            <a:r>
              <a:t>CSV-импорт и погодная подсказка Open-Meteo.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D11E1-C7DA-48E2-95D0-EEB7D1B1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29150"/>
            <a:ext cx="284797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53C83-4084-4E20-AFF8-640985FF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25050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644FE-9D6B-4D56-AE11-5EF64F57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00650"/>
            <a:ext cx="2505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страниц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8AF54-45E0-4536-A9BE-B30A03D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29250"/>
            <a:ext cx="25050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каталог, профиль и др.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18DC9-FF11-413C-B379-7F42D461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29150"/>
            <a:ext cx="284797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B8531-572D-4577-9782-9376CBCF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00600"/>
            <a:ext cx="25050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0916C"/>
                </a:solidFill>
              </a:defRPr>
            </a:pPr>
            <a:r>
              <a:t>6+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D3C351-FF26-4D96-B307-9679C1D0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00650"/>
            <a:ext cx="2505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форм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30C5B5-DD35-4602-90CD-B2F13E0C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29250"/>
            <a:ext cx="250507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auth, plants, tasks, CSV</a:t>
            </a:r>
          </a:p>
        </p:txBody>
      </p:sp>
    </p:spTree>
    <p:extLst>
      <p:ext uri="{BB962C8B-B14F-4D97-AF65-F5344CB8AC3E}">
        <p14:creationId xmlns:p14="http://schemas.microsoft.com/office/powerpoint/2010/main" val="1808548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3CE3C-D788-4005-97CD-BCCBB8C4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7F0E5-D08E-4EE4-A191-23B2AED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09B15-0BDF-4DAB-A497-CB0A71BA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0DCC7-9EDB-432D-9A45-AB856E9C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384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ОБЩАЯ СХЕМА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11733-A254-4DD6-B0A2-78580A2B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917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React общается с Django REST API, а backend изолирует БД и внешние сервисы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5F68A-400D-4FAA-8E94-46B21601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766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C0973-AF52-40EB-9CCE-11EB5C73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705231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D6A4F"/>
                </a:solidFill>
              </a:defRPr>
            </a:pPr>
            <a: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6909-9CAE-48CE-8664-27905AA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9718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Пользователь работает в SPA на localhost:5173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7FEB7-419E-483A-9D78-177C273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872CD-2090-41AF-A263-74EF1647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2766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91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DD911-3CF5-455E-A592-48FCA3EB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05025"/>
            <a:ext cx="126320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0916C"/>
                </a:solidFill>
              </a:defRPr>
            </a:pPr>
            <a:r>
              <a:t>React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C60B8-5D91-4027-8B6C-BE87401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29718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Маршруты, формы, состояние auth, fetch с credentials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CA437-33A0-49B6-9565-16E83B9A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5523F-1437-430C-9B85-C64AF3E8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2766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8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5B192-6237-4F4D-B407-BE8C620A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05025"/>
            <a:ext cx="148513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A86FF"/>
                </a:solidFill>
              </a:defRPr>
            </a:pPr>
            <a:r>
              <a:t>Django REST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1567B-DD45-4807-825E-7B4EA70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38425"/>
            <a:ext cx="29718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Permissions, serializers, ORM, JWT-cookie authentication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A2D57-563D-4B1A-91EE-9D30C8D2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19475"/>
            <a:ext cx="5048250" cy="224790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A5E5A-A7A2-4A0D-B01A-2C52CCAA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1996631" cy="262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392B"/>
                </a:solidFill>
              </a:defRPr>
            </a:pPr>
            <a:r>
              <a:t>Хранилище данных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E5611-CB01-40D1-86B0-C788AE7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62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B00F5-B7B4-418E-BD16-6692B3A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6215"/>
            <a:ext cx="182518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SQLite локально без Docker.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DACD6-807C-4A4D-B29B-820B57CF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00BEB-2FC8-4452-8E93-1D7B2695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82518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PostgreSQL в Docker Compose.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E57F3-359E-4990-AE7A-3CBBA2AB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91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A6D75-CAD6-4470-B3C0-A5328F1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9185"/>
            <a:ext cx="1825181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Бизнес-код не зависит от СУБД благодаря Django ORM.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95156-5417-4D7E-8946-2A044F6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19475"/>
            <a:ext cx="5048250" cy="2510790"/>
          </a:xfrm>
          <a:prstGeom xmlns:a="http://schemas.openxmlformats.org/drawingml/2006/main" prst="roundRect">
            <a:avLst>
              <a:gd name="adj" fmla="val 9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05F2F-6117-4E62-95E3-4EE84AA3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29025"/>
            <a:ext cx="2148554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392B"/>
                </a:solidFill>
              </a:defRPr>
            </a:pPr>
            <a:r>
              <a:t>Внешняя интеграция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82833-C6EE-44F6-AACA-7FC59CAB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91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263CC-AA53-4588-8D38-12C80BC4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9105"/>
            <a:ext cx="1977104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Backend вызывает Open-Meteo, frontend не ходит туда напрямую.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820CF-F1EB-4A8D-9EEB-5692DA5B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03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C56165-5FEF-4100-BC6C-EDB8B1C2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3470"/>
            <a:ext cx="1977104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Timeout обрабатывается fallback-ответом.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1F235-D381-49AA-A2FC-85D5C95D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549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2257E-5FBC-46C0-AFFD-289A27BB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54955"/>
            <a:ext cx="1977104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Swagger/OpenAPI документирует API.</a:t>
            </a:r>
          </a:p>
        </p:txBody>
      </p:sp>
    </p:spTree>
    <p:extLst>
      <p:ext uri="{BB962C8B-B14F-4D97-AF65-F5344CB8AC3E}">
        <p14:creationId xmlns:p14="http://schemas.microsoft.com/office/powerpoint/2010/main" val="1091682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108D9-31D3-4F35-99DE-BF491F8A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FF6C9-BAC1-4B50-BBD7-AADFC1B9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26AB6-B3DC-420A-BD77-EB6FF68C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Database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0F89B-E5DC-487E-B62D-2F43AF0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28949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ТАБЛИЦЫ И СВЯЗИ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9C4A2-6E38-4B8A-BF34-617C6373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917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Схема БД разделяет справочник, личные растения, планы и факты ухода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9F6F7-8920-48CC-921B-35B1CFDB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766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E1AF4-2C17-4511-9196-BCBAE0D3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114806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D6A4F"/>
                </a:solidFill>
              </a:defRPr>
            </a:pPr>
            <a:r>
              <a:t>PlantSpecies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9EF52-20AC-4609-A571-C88DA08E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9718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Общий справочник видов: свет, влажность, интервал, картинка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8DAB8-993C-4A55-86DD-30E01F09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64C3F-B5AD-48F5-AEE0-873900F2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2766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91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985F7-72E0-471E-91BA-4BF23AEA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05025"/>
            <a:ext cx="83248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0916C"/>
                </a:solidFill>
              </a:defRPr>
            </a:pPr>
            <a:r>
              <a:t>UserPlant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9A7F4-0C5D-499D-98E3-3B803261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29718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Личное растение: owner, nickname, location, notes, last_watered_at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52C7A-C99C-4943-B751-C4FAD012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10596-6D6C-4AD6-B7D6-CD8ECFC9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2766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8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FC2DA-411F-4515-B212-60BC73E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05025"/>
            <a:ext cx="1682877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A86FF"/>
                </a:solidFill>
              </a:defRPr>
            </a:pPr>
            <a:r>
              <a:t>CareTask / CareLog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83E1C-E2FC-40CB-AAB7-8BE82B60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38425"/>
            <a:ext cx="29718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Планируемые задачи и история выполненного ухода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4A44B-1E23-4018-93FF-82191EA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5219700" cy="3128010"/>
          </a:xfrm>
          <a:prstGeom xmlns:a="http://schemas.openxmlformats.org/drawingml/2006/main" prst="roundRect">
            <a:avLst>
              <a:gd name="adj" fmla="val 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71232-C254-45A3-9C60-AB8D35C0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378077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92B"/>
                </a:solidFill>
              </a:defRPr>
            </a:pPr>
            <a:r>
              <a:t>Many-to-many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0EDC6-7B2A-4966-BB14-E6910436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95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8707B-B921-47B0-BF74-FDFB8995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9535"/>
            <a:ext cx="1206627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Collection хранит личные группы пользователя.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56827-D29B-40E1-8C57-4C04331B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96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27FC3-BB52-444D-AAA5-79BD699B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9610"/>
            <a:ext cx="1206627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CollectionPlant связывает коллекции и растения.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FD116-D1A2-4924-85AF-524AE217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11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5338A-E0FD-476E-9E7A-D00C0EB2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1135"/>
            <a:ext cx="1206627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Одна коллекция содержит много растений; одно растение может быть в разных коллекциях.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9F2B4-B375-4AED-A354-7F3326A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2325"/>
            <a:ext cx="5219700" cy="1756410"/>
          </a:xfrm>
          <a:prstGeom xmlns:a="http://schemas.openxmlformats.org/drawingml/2006/main" prst="roundRect">
            <a:avLst>
              <a:gd name="adj" fmla="val 1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042798-B43D-480D-8129-FBBDD10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2593753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92B"/>
                </a:solidFill>
              </a:defRPr>
            </a:pPr>
            <a:r>
              <a:t>Ограничения целостности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CB724-F412-4669-85B2-23E7EF0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995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EE256-DF68-495B-8E6E-48CD74AE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99535"/>
            <a:ext cx="242230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Уникальные названия видов.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592EC-8808-4EA6-8FB4-9A31E34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567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69C5C-CC2B-40AA-8A42-0251A053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6710"/>
            <a:ext cx="2422303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Уникальные nickname/collection name внутри владельца.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707A23-888E-4D45-90A9-43089940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853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50C428-0B5B-4A15-9152-47289B3C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5335"/>
            <a:ext cx="2422303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PROTECT для вида растения и CASCADE для личных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888195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35C0C-3CDE-43D5-A1F7-CE955D2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819AF-29A9-46FE-BFC1-1E3E1941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D34E8-71FE-4535-91DC-5461FD5C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REST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30C11-E8B6-43A3-9146-0A19ACCA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95089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РУЧКИ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7A5D7-BCB1-41C7-99DA-12620FD3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919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API сгруппирован по задачам пользователя и документируется через OpenAPI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8248-FF29-46E9-8A5C-865DDB0F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543971" cy="1762125"/>
          </a:xfrm>
          <a:prstGeom xmlns:a="http://schemas.openxmlformats.org/drawingml/2006/main" prst="roundRect">
            <a:avLst>
              <a:gd name="adj" fmla="val 14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5E66D-B723-4DED-8A61-8A43E5B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9B530-7EEC-401A-B143-96D3E93C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3130"/>
            <a:ext cx="355759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Auth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31716-D9F2-4B7D-AFF6-E2B74E0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778097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register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token login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token refresh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logout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1DB0E-D202-4937-B82E-B4E1A7B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21" y="1952625"/>
            <a:ext cx="1819180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05F97-BD8D-4490-932F-AA6631BA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321" y="214312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1E6D4-EAE3-449E-8964-EAEBE23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771" y="2183130"/>
            <a:ext cx="126673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Catalog &amp; plants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D14C6-41FC-47A6-91E2-4B8AA2B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321" y="2524125"/>
            <a:ext cx="1029843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species list/detail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plants CRUD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owner-filtered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DCE7D-F24E-4B37-A920-016BE147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451" y="1952625"/>
            <a:ext cx="1653635" cy="1762125"/>
          </a:xfrm>
          <a:prstGeom xmlns:a="http://schemas.openxmlformats.org/drawingml/2006/main" prst="roundRect">
            <a:avLst>
              <a:gd name="adj" fmla="val 13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E0988-111E-47F4-8883-4892A583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951" y="220599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AB744-E335-4225-AF1E-A99ADB57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401" y="2143125"/>
            <a:ext cx="110118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Care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B6B07-DDB9-481D-8895-A064C83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951" y="2649855"/>
            <a:ext cx="1039844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care-tasks CRUD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complete action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care-logs CRUD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7EF89-621D-4A1D-89ED-6D73DD64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586357" cy="1762125"/>
          </a:xfrm>
          <a:prstGeom xmlns:a="http://schemas.openxmlformats.org/drawingml/2006/main" prst="roundRect">
            <a:avLst>
              <a:gd name="adj" fmla="val 14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57892-A3F6-4574-9B71-E658171A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847DA-1CE3-4976-8813-65B6DC3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6705"/>
            <a:ext cx="565309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Groups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0D5D1-F2C0-4DE5-9972-1F88E7D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54513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collections CRUD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many-to-many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личные группы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8E1BC-B2B1-40EA-B34C-556A114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207" y="3886200"/>
            <a:ext cx="1902524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42D37-A4F8-406C-9E4D-20246B3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707" y="407670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65B"/>
          </a:solidFill>
          <a:ln xmlns:a="http://schemas.openxmlformats.org/drawingml/2006/main" w="0">
            <a:solidFill>
              <a:srgbClr val="F6C6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E36C7-E06E-4DFF-B2C5-5524E1C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157" y="4116705"/>
            <a:ext cx="905066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Integrations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A9998-3717-4820-97C4-52D5AE4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707" y="4457700"/>
            <a:ext cx="1521524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CSV import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weather recommendation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Open-Meteo 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B18C51-4C87-4C0A-A43C-7BFE2C6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181" y="3886200"/>
            <a:ext cx="1586357" cy="1762125"/>
          </a:xfrm>
          <a:prstGeom xmlns:a="http://schemas.openxmlformats.org/drawingml/2006/main" prst="roundRect">
            <a:avLst>
              <a:gd name="adj" fmla="val 14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11220-092D-4A7C-8E2C-93425E9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681" y="407670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88F29-202E-4D86-BB58-77B1D5F4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131" y="4116705"/>
            <a:ext cx="396907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Docs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6F765-37B0-492C-8426-DE9CF711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681" y="4457700"/>
            <a:ext cx="1040035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OpenAPI schema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Swagger UI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cookieJwtAuth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31B33-7911-413B-8FDA-E280101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9775"/>
            <a:ext cx="10858500" cy="548640"/>
          </a:xfrm>
          <a:prstGeom xmlns:a="http://schemas.openxmlformats.org/drawingml/2006/main" prst="roundRect">
            <a:avLst>
              <a:gd name="adj" fmla="val 38194"/>
            </a:avLst>
          </a:prstGeom>
          <a:solidFill xmlns:a="http://schemas.openxmlformats.org/drawingml/2006/main">
            <a:srgbClr val="18392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468811-C035-4CF7-A5EA-4E3A1631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998591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t>Главный принцип: публичен только каталог и auth; личные данные проходят через IsAuthenticated и queryset по владельцу.</a:t>
            </a:r>
          </a:p>
        </p:txBody>
      </p:sp>
    </p:spTree>
    <p:extLst>
      <p:ext uri="{BB962C8B-B14F-4D97-AF65-F5344CB8AC3E}">
        <p14:creationId xmlns:p14="http://schemas.microsoft.com/office/powerpoint/2010/main" val="344837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21A23-45DD-4C0B-8C49-5B79F7DE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6C727-03F7-4912-80D9-455618C0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4BFBE-3681-4FF5-9D39-DAC978F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Authorization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FD26F-6A0B-4F84-B632-30AF5B00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394936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КАК РАБОТАЕТ 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EFE67-846F-484A-9ABD-345427F8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9190"/>
            <a:ext cx="104775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JWT остался, но хранение токена переехало из JS в HttpOnly cookies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D686F-BBDC-4C4C-8696-1F2B2F4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57605" cy="1219200"/>
          </a:xfrm>
          <a:prstGeom xmlns:a="http://schemas.openxmlformats.org/drawingml/2006/main" prst="roundRect">
            <a:avLst>
              <a:gd name="adj" fmla="val 18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E8DAE-5291-46A2-A1C2-225F1E9E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684657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D6A4F"/>
                </a:solidFill>
              </a:defRPr>
            </a:pPr>
            <a:r>
              <a:t>1. 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A3763-198D-43E6-A286-36A9F6B1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85280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POST /api/auth/token/ с username/password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92C7A-7E3E-4566-A971-613B44C4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255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39FC1-3BB1-4073-82A1-4936668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355" y="1952625"/>
            <a:ext cx="1271778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91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E3AD2-1698-4493-9D18-42C54D7D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755" y="2105025"/>
            <a:ext cx="966978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0916C"/>
                </a:solidFill>
              </a:defRPr>
            </a:pPr>
            <a:r>
              <a:t>2.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91FA4-2A2A-482A-9F81-07063B7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755" y="2409825"/>
            <a:ext cx="966978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SimpleJWT проверяет пароль и выпускает access + refresh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315E4-DF74-4F49-B8B4-A3712976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383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2EBE7-2063-4AF3-AACE-3A9C0364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483" y="1952625"/>
            <a:ext cx="1211580" cy="1219200"/>
          </a:xfrm>
          <a:prstGeom xmlns:a="http://schemas.openxmlformats.org/drawingml/2006/main" prst="roundRect">
            <a:avLst>
              <a:gd name="adj" fmla="val 172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8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B530E-D564-4E09-9006-02F41340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883" y="2105025"/>
            <a:ext cx="90678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A86FF"/>
                </a:solidFill>
              </a:defRPr>
            </a:pPr>
            <a:r>
              <a:t>3. Cookies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A8BCD-7726-477A-B57E-F40BB22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883" y="2409825"/>
            <a:ext cx="90678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Set-Cookie: plantcare_access и plantcare_refresh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0242C-A204-4DCB-B37F-AC545AFE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19700" cy="2693670"/>
          </a:xfrm>
          <a:prstGeom xmlns:a="http://schemas.openxmlformats.org/drawingml/2006/main" prst="roundRect">
            <a:avLst>
              <a:gd name="adj" fmla="val 84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E6D0A-DC19-44D2-9278-1B62128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524476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92B"/>
                </a:solidFill>
              </a:defRPr>
            </a:pPr>
            <a:r>
              <a:t>Почему cookies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AB3C7-CCCE-4E9C-91CF-28B85D84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00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54095-C80F-4BA5-98E6-6945E02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0045"/>
            <a:ext cx="1353026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Frontend не читает токен как строку.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AEAB1-012F-49F8-9078-C0E1388E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86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DE19C-CF6F-4054-8801-FFC8223A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8670"/>
            <a:ext cx="135302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HttpOnly снижает риск кражи токена при XSS.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45DF9-8180-475E-BE68-22BF4FB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87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7565A-21DE-42DE-BD41-95A02B8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8745"/>
            <a:ext cx="1353026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credentials: include заставляет браузер прикладывать cookie к API.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B9DF7-D243-419E-922D-FD0E103C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1375"/>
            <a:ext cx="5219700" cy="2956560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51F9E-2DAF-4455-9D9A-B3A0F23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542860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92B"/>
                </a:solidFill>
              </a:defRPr>
            </a:pPr>
            <a:r>
              <a:t>Refresh и logout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D9D09A-2356-4B77-BEF8-7A6BBD01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185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215391-55EC-4869-982B-DAF9D3A9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18585"/>
            <a:ext cx="137141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При 401 frontend один раз вызывает /auth/token/refresh.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7B68D-11FF-4C5F-AD1F-C16799BC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86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F84F1-F0B0-4BD2-A4F4-D6F84477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8660"/>
            <a:ext cx="137141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Refresh cookie ограничен path только на refresh endpoint.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58F13-62EA-4E4A-B8B1-7F42F9F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901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4279C-6D69-40FF-AAE9-C89AC0F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90185"/>
            <a:ext cx="137141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Logout удаляет cookies; production-усиление — blacklist refresh tokens.</a:t>
            </a:r>
          </a:p>
        </p:txBody>
      </p:sp>
    </p:spTree>
    <p:extLst>
      <p:ext uri="{BB962C8B-B14F-4D97-AF65-F5344CB8AC3E}">
        <p14:creationId xmlns:p14="http://schemas.microsoft.com/office/powerpoint/2010/main" val="587922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0C06D-895A-43C1-A9DC-464148E5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4495D-5BA9-4FAD-8CF9-A7475A5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47765-0A2A-476A-B329-092F9752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EC0A9-5E5E-46AD-90F9-A25A4423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6195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ЗАЩИТА ОТ АТАК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EBF3D-233C-43EB-BBEB-A95F7144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917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Защита построена слоями: токены, владельцы данных, ORM и production-настройки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13BCA-FD98-4907-A07A-79175AF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528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A09E7-ECB9-429B-B34C-D5A426F5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249F2-110D-488A-9ED8-A85CE1E9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4080"/>
            <a:ext cx="2381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XSS/token theft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ECF85-4933-41B9-B7E8-6E1C701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30099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JWT не в localStorage.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HttpOnly cookie не читается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через document.cookie.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95BC1-293B-410F-8343-D56D75F1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33528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A8CEF-D661-4E5E-A853-D64F52CE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2407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65B"/>
          </a:solidFill>
          <a:ln xmlns:a="http://schemas.openxmlformats.org/drawingml/2006/main" w="0">
            <a:solidFill>
              <a:srgbClr val="F6C6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CFB7B-7C63-47F7-912D-F5B81E14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4080"/>
            <a:ext cx="2381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CSRF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25FBB-7681-4A40-ACBB-43ED7C6A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05075"/>
            <a:ext cx="30099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SameSite=Lax + CORS.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Для JWT-cookie API нужно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production-усиление: CSRF token.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A0450-79A0-4D32-BF52-4D1F61DF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52625"/>
            <a:ext cx="33528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4C017-903B-41E8-A1B6-E173BE56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15B52-2044-4D84-8009-855EF4C3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64080"/>
            <a:ext cx="2381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IDOR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85D3A-A130-4636-97A9-6EBCE39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05075"/>
            <a:ext cx="30099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Личные queryset фильтруются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по request.user. Чужой id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не раскрывает объект.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2AA6E-D962-4EBF-BA96-8197CF8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33528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70DD3-EC6B-42F1-9B81-93A2E0AC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6C3D9-D5B3-4076-AE0C-4113D1C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0980"/>
            <a:ext cx="2381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SQL injection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86222-CD5F-4A33-A526-7DBE21AE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30099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Нет raw SQL.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Ввод проходит через serializers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и Django ORM.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B6574-7DA4-4265-B3A6-9563491C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19525"/>
            <a:ext cx="33528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0AD46-AE6D-4B69-86D2-91EC5EC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9097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6DE6A-6059-4AAA-A3B7-E883B861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0980"/>
            <a:ext cx="2381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Пароли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8425D-41D2-45BF-96AE-FD3222B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71975"/>
            <a:ext cx="30099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create_user хранит hash.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Доработка: validate_password.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2DEB2-4504-495F-BCA1-05DE81C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9525"/>
            <a:ext cx="33528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9DD40-6B37-43FF-A7B7-F07977B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9097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92B"/>
          </a:solidFill>
          <a:ln xmlns:a="http://schemas.openxmlformats.org/drawingml/2006/main" w="0">
            <a:solidFill>
              <a:srgbClr val="1839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DDDF0-F04C-42A3-B391-7243F1F0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0980"/>
            <a:ext cx="2381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HTTPS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22818-F92E-4C07-B4B5-BF61B3E8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71975"/>
            <a:ext cx="30099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Локально Secure=0.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Production: HTTPS +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JWT_COOKIE_SECURE=1.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2AD5E-8427-4D85-934C-68850CE6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86425"/>
            <a:ext cx="10858500" cy="548640"/>
          </a:xfrm>
          <a:prstGeom xmlns:a="http://schemas.openxmlformats.org/drawingml/2006/main" prst="roundRect">
            <a:avLst>
              <a:gd name="adj" fmla="val 38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F74A9-C444-4C84-950C-11220C6D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1529822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Хороший ответ комиссии: “Это учебный MVP, но я понимаю границы: нужны rate limiting, CSRF-token, HTTPS и refresh blacklist для production”.</a:t>
            </a:r>
          </a:p>
        </p:txBody>
      </p:sp>
    </p:spTree>
    <p:extLst>
      <p:ext uri="{BB962C8B-B14F-4D97-AF65-F5344CB8AC3E}">
        <p14:creationId xmlns:p14="http://schemas.microsoft.com/office/powerpoint/2010/main" val="1888666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D3B5E-9173-4AA5-A174-0CFC39FD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F690F-6FCD-45A3-BB4B-BD23270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765DF-D0DC-4F73-8120-5217A4CF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FEDE1-B500-410A-ABC2-DE55B92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0058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REACT-ЧАСТЬ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473F2-07DC-4822-B908-0570E5A6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917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Frontend не знает токенов: страницы работают через общий API-клиент и AuthContext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18095-B33D-4F40-AB9A-80C003DB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4953000" cy="2665095"/>
          </a:xfrm>
          <a:prstGeom xmlns:a="http://schemas.openxmlformats.org/drawingml/2006/main" prst="roundRect">
            <a:avLst>
              <a:gd name="adj" fmla="val 100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A4216-D23F-4573-829A-C13AA60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72399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92B"/>
                </a:solidFill>
              </a:defRPr>
            </a:pPr>
            <a:r>
              <a:t>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09163-2707-4B12-A0C2-45308A4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32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DB143-16C9-4EAA-9A23-AE0E595C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3215"/>
            <a:ext cx="43243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/catalog — публичный каталог видов.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DE965-C536-4497-B4F8-D0E26295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18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01848-D01D-4AD9-A293-F19307CE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1820"/>
            <a:ext cx="43243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/auth — вход и регистрация.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17CD7-6CA8-4290-BAB0-5116B2EF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EB9AC-F8AC-4808-BBAD-3615D493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0425"/>
            <a:ext cx="43243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/plants — личные растения.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61529-B22C-4427-8DD9-C8426930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9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63291-C1D1-4D3D-9C76-E73F6A2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9030"/>
            <a:ext cx="43243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/plants/:id — карточка ухода и погода.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00FDF-4A16-4B64-844C-A9521280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76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02B2B-089C-4220-BC5C-E81F53C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7635"/>
            <a:ext cx="43243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/calendar — задачи.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E66B2-C33B-4A1F-A720-8BF5BB14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62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102EC-C85B-4386-92C4-2B4002DD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6240"/>
            <a:ext cx="432435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/profile — коллекции, тема, CSV.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9C750-F503-4ABE-9655-631A5169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5695950" cy="140208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34734-42C2-4F8E-B257-A3FD67E2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4312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A8553-7D16-4761-A911-AA5B8B2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83130"/>
            <a:ext cx="870109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apiRequest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C6387-A7D1-4621-B5FB-6ABDE60A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24125"/>
            <a:ext cx="2214086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JSON headers + credentials: include.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Ошибки парсятся; при 401 refresh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и один повтор исходного запроса.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BCAE4-CD3B-4290-845F-739BEEB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07105"/>
            <a:ext cx="5695950" cy="1263650"/>
          </a:xfrm>
          <a:prstGeom xmlns:a="http://schemas.openxmlformats.org/drawingml/2006/main" prst="roundRect">
            <a:avLst>
              <a:gd name="adj" fmla="val 180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BE5CC-113F-4AFF-A003-8315F98D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9760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EA1F5-316F-465E-B8DC-2C2766FA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7610"/>
            <a:ext cx="355759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4947C-B5CC-422E-8CCB-1A27714F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78605"/>
            <a:ext cx="2349913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При старте дергает /auth/me.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signIn/signUp/signOut обновляют user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и protected routes.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7DE27-A663-4397-9AAC-829ED61B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23155"/>
            <a:ext cx="5695950" cy="1263650"/>
          </a:xfrm>
          <a:prstGeom xmlns:a="http://schemas.openxmlformats.org/drawingml/2006/main" prst="roundRect">
            <a:avLst>
              <a:gd name="adj" fmla="val 180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4D83C-5AC1-41F6-AD5F-F9B65E1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365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65B"/>
          </a:solidFill>
          <a:ln xmlns:a="http://schemas.openxmlformats.org/drawingml/2006/main" w="0">
            <a:solidFill>
              <a:srgbClr val="F6C6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54FC8-AA72-47E1-85E2-7457D03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53660"/>
            <a:ext cx="22850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UX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329095-CBE1-4BD8-A458-B8C1D61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94655"/>
            <a:ext cx="2485454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Коллекции видны в профиле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в блоке “Мои коллекции”.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Каталог остается справочником видов.</a:t>
            </a:r>
          </a:p>
        </p:txBody>
      </p:sp>
    </p:spTree>
    <p:extLst>
      <p:ext uri="{BB962C8B-B14F-4D97-AF65-F5344CB8AC3E}">
        <p14:creationId xmlns:p14="http://schemas.microsoft.com/office/powerpoint/2010/main" val="191593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04DED-121F-4830-919C-86CAB6B9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FB3F0-CF87-4BE8-9709-73F2D7B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828F0-A91B-4DEF-ABF4-BC3CA888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Open-Meteo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D28D5-6543-44E7-A9C9-C30EF226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281017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ВНЕШНИЙ СЕРВИС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A3AD7-3202-4041-9813-634A0545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919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Погодная интеграция усиливает бизнес-логику, но не ломает карточку при 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A65F2-BC45-42C0-A844-050CE3C2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566863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85166-E92B-4BC2-9168-1F06F6AA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864489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D6A4F"/>
                </a:solidFill>
              </a:defRPr>
            </a:pPr>
            <a:r>
              <a:t>Plant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23FBA-BC7D-47AA-95FD-6DA18F81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262063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GET /api/weather/recommendation?plant_id=...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4B081-D54D-43F5-B7CE-2131285E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5870B-95AA-49A7-9518-F6BA840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1952625"/>
            <a:ext cx="1716024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8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48C9A-C920-4F01-8521-83AA020B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2105025"/>
            <a:ext cx="1411224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A86FF"/>
                </a:solidFill>
              </a:defRPr>
            </a:pPr>
            <a:r>
              <a:t>Backend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AD7C0-8F89-4237-8474-52B0E37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2409825"/>
            <a:ext cx="1411224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requests.get Open-Meteo с timeout 6 секунд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32F0E-9A27-4437-992B-9798281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886" y="2390775"/>
            <a:ext cx="32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16390-E3E5-4612-ABCA-CFF73F2D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986" y="1952625"/>
            <a:ext cx="1815275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91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7D557-46CC-4CC4-BD9F-4F246BB8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386" y="2105025"/>
            <a:ext cx="1510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0916C"/>
                </a:solidFill>
              </a:defRPr>
            </a:pPr>
            <a: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45AB0-CA19-4D23-83D6-02C9E42A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386" y="2409825"/>
            <a:ext cx="1510475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temperature, humidity, precipitation, rain_expected, message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9723B-DD52-43B5-BFE5-21E9D84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19700" cy="2522220"/>
          </a:xfrm>
          <a:prstGeom xmlns:a="http://schemas.openxmlformats.org/drawingml/2006/main" prst="roundRect">
            <a:avLst>
              <a:gd name="adj" fmla="val 9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D2BD7-4596-4001-BD41-E25EA750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298192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92B"/>
                </a:solidFill>
              </a:defRPr>
            </a:pPr>
            <a:r>
              <a:t>Когда сервис доступен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A62CF-F7EA-4A85-A25E-ECE316E7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00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7EC09-7A8A-4B54-84B1-17AE3128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0045"/>
            <a:ext cx="212674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Всегда показываем температуру, влажность, осадки сегодня/завтра.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2BC23-9927-4765-BFAB-83973E57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01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06F50-38FA-4FD3-9C6C-223276BF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0120"/>
            <a:ext cx="212674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Для балконных растений заметный дождь может отложить полив.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B65C4-A3B1-4984-B6D4-9F0AE47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01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9CF2B-7B65-43A7-9025-269D199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0195"/>
            <a:ext cx="2126742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Для комнатных растений погода остается контекстом.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00688-1D6D-4760-B1C6-B77FE67B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1375"/>
            <a:ext cx="5219700" cy="2179320"/>
          </a:xfrm>
          <a:prstGeom xmlns:a="http://schemas.openxmlformats.org/drawingml/2006/main" prst="roundRect">
            <a:avLst>
              <a:gd name="adj" fmla="val 10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A7299-9054-4F32-ABA5-DC150DE4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252803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92B"/>
                </a:solidFill>
              </a:defRPr>
            </a:pPr>
            <a:r>
              <a:t>Когда сервис недоступен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B5715-DBED-4A39-A2E0-8CDF4E4B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00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5C49D-32CF-44BD-B517-CE84690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0045"/>
            <a:ext cx="235658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Backend ловит requests.RequestException.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D2794-64F6-4C2D-BD46-7E0980C5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986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D18A6-D0B4-4A6A-AB67-C1A9D7EA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8670"/>
            <a:ext cx="235658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Возвращает fallback JSON, а не 500.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E9857-F6CB-42E5-B0FA-C2FCCBBB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272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C08A65-49EA-4EFD-A38C-7BCCAB14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7295"/>
            <a:ext cx="235658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32C"/>
                </a:solidFill>
              </a:defRPr>
            </a:pPr>
            <a:r>
              <a:t>weather_available=false объясняет UI, что показан базовый график.</a:t>
            </a:r>
          </a:p>
        </p:txBody>
      </p:sp>
    </p:spTree>
    <p:extLst>
      <p:ext uri="{BB962C8B-B14F-4D97-AF65-F5344CB8AC3E}">
        <p14:creationId xmlns:p14="http://schemas.microsoft.com/office/powerpoint/2010/main" val="788021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86ECA1-ECF3-4843-A306-B9480EF9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7D914-CC7D-4E9D-AB76-CB312184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2ADFA-DBC4-4B31-A3F7-AC0F800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48AFB-A181-4E37-8BE8-C9B1F37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236917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ДОКАЗАТЕЛЬСТВА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48FD6-8CBE-4BD5-90CB-BF48358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917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Проект проверен не только руками: есть тесты, OpenAPI, сборка и Docker 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68372-35E3-4307-8D55-7431052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600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8FEB8-6A4C-4898-965D-B53EC91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22574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16/16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86264-3DE0-4DD6-BC44-44908754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22574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pytest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4B92F-3F90-4390-957C-86C2CFF7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225742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API + models + weather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9B13D-CE69-425A-A894-4643D7ED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600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59DB1-65BB-4005-B974-C8EE343A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24075"/>
            <a:ext cx="22574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0916C"/>
                </a:solidFill>
              </a:defRPr>
            </a:pPr>
            <a:r>
              <a:t>92%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4BF98-F346-47AA-9CBD-B05736EF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24125"/>
            <a:ext cx="22574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E6EFF-1A7D-4671-956D-98C761E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52725"/>
            <a:ext cx="225742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backend application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9CD7C-78D8-4CE0-AF1F-13FD5AC3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2600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241DA-47D0-4574-81A6-5DCE8115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2574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A86FF"/>
                </a:solidFill>
              </a:defRPr>
            </a:pPr>
            <a: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75CD2-E37D-4CA1-8C06-F3211298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24125"/>
            <a:ext cx="22574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OpenAPI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F6686-3747-43C6-8F18-BDCEE29C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52725"/>
            <a:ext cx="225742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spectacular --validate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8DA0E-C22B-4F1E-8E52-5F94F139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52625"/>
            <a:ext cx="2600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D1009-00CD-4B8A-817E-26DDE543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24075"/>
            <a:ext cx="22574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6C65B"/>
                </a:solidFill>
              </a:defRPr>
            </a:pPr>
            <a: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E88A8-7E18-43E4-9F16-9533B4CE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24125"/>
            <a:ext cx="22574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frontend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6E1BA-26B8-4269-A3ED-0C07ED5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52725"/>
            <a:ext cx="2257425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tsc -b &amp;&amp; vite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128E9-DB34-46C6-A80C-723C4920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28975"/>
            <a:ext cx="10858500" cy="3676650"/>
          </a:xfrm>
          <a:prstGeom xmlns:a="http://schemas.openxmlformats.org/drawingml/2006/main" prst="roundRect">
            <a:avLst>
              <a:gd name="adj" fmla="val 67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02D53-43D4-4D48-AEE8-A6DF53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742057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92B"/>
                </a:solidFill>
              </a:defRPr>
            </a:pPr>
            <a:r>
              <a:t>Что покрывают проверки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3219B-5C0F-4CBE-96BC-297588B9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95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F5E5F-7350-4979-B2E9-82A8A398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9565"/>
            <a:ext cx="2570607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Регистрация, login, cookies, refresh и приватные endpoints.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FB4CA-F3C8-4431-913C-89227B3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77041-8734-4B9E-A7A2-0F051F4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570607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Фильтрация чужих данных и запрет действий с чужим растением.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8A42C-050A-4CED-A83C-9928BA1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54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96D2CF-ECD9-45FF-B56A-5ECFF70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25415"/>
            <a:ext cx="2570607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Many-to-many коллекции и CSV-импорт.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624BE-2155-4F77-9F4E-22E15763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D2E8CD-26BE-4AE8-BE49-090551EF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2570607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Погодная рекомендация, Open-Meteo fields и fallback при timeout.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2C7E73-0DD6-41E4-A95C-21F5700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12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83CBED-6B67-45A3-BFB2-ABAA71E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11265"/>
            <a:ext cx="2570607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Swagger/OpenAPI schema после изменения weather_available.</a:t>
            </a:r>
          </a:p>
        </p:txBody>
      </p:sp>
    </p:spTree>
    <p:extLst>
      <p:ext uri="{BB962C8B-B14F-4D97-AF65-F5344CB8AC3E}">
        <p14:creationId xmlns:p14="http://schemas.microsoft.com/office/powerpoint/2010/main" val="1287590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1EE04C-F777-4358-B172-9B7160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F3CDB-30EB-4753-AE4D-20643A8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57D9C-0993-4084-8B2A-AF19F31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Load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5DC44-7069-47F1-B84C-2E59948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2085022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НАГРУЗОЧНОЕ ТЕСТИРОВАНИЕ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DE1F7-1C1F-45F4-B6C4-DEC511AC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919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Locust показал корректность сценария под smoke-нагрузкой, а не бесконечную емкость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451F7-1B17-4A56-A578-75BC8F3F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4762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13D86-BC68-4B41-8C93-9B8153ED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441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D6A4F"/>
                </a:solidFill>
              </a:defRPr>
            </a:pPr>
            <a: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E0D96-FBC4-47EF-A8E1-0638C8ED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41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B7D52-3A59-4CA0-9127-6AA08386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44196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короткий headless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29E6E-4C75-4F21-A696-92942B9F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4762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47E76-9CA2-4E14-A835-8E1C0DF4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441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0916C"/>
                </a:solidFill>
              </a:defRPr>
            </a:pPr>
            <a:r>
              <a:t>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EB63C-D65B-4D74-8EB3-24863002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441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failures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EBF74-AFFB-41C1-8ACE-4278BACD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44196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exit code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E5277-FE0B-4175-9B9B-A5C4D428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762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039F-387E-4178-818B-B41B14FB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441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A86FF"/>
                </a:solidFill>
              </a:defRPr>
            </a:pPr>
            <a:r>
              <a:t>63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889FB-207D-4B6D-B1FE-093EB06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441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92B"/>
                </a:solidFill>
              </a:defRPr>
            </a:pPr>
            <a:r>
              <a:t>avg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67EA9-448B-4EDF-8C4F-85DF963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44196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D"/>
                </a:solidFill>
              </a:defRPr>
            </a:pPr>
            <a:r>
              <a:t>local smoke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B05A3-E271-4735-9126-012C22D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52625"/>
            <a:ext cx="5886450" cy="40957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3FF15-2D10-4506-B2B5-2CBD1F6A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81225"/>
            <a:ext cx="4097274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92B"/>
                </a:solidFill>
              </a:defRPr>
            </a:pPr>
            <a:r>
              <a:t>Что делал виртуальный пользователь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E4727-4406-4B1D-B327-E21015A8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632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C7911-E17E-4D02-987E-5856D75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63215"/>
            <a:ext cx="12423648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Регистрировался.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C18FC-9914-487C-96DF-EE5EF94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318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AF1E-53E4-495D-BF7A-27729C06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1820"/>
            <a:ext cx="12423648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Логинился через /api/auth/token.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B9C6F-1902-4CFE-A824-DA9ED9B1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6BCF7-4CC5-48D6-8B78-390DDC9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0425"/>
            <a:ext cx="12423648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Открывал каталог /api/species.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D22AE-9ACF-4578-B18F-4E8CA69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69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0A045-F523-446B-BC71-94AF57D7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9030"/>
            <a:ext cx="12423648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Создавал растение /api/plants.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7C0C9-D596-42F3-A0F6-1CCD674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376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solidFill>
              <a:srgbClr val="4091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86ABF-14EC-4E8B-BB0E-1384B9A8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37635"/>
            <a:ext cx="12423648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32C"/>
                </a:solidFill>
              </a:defRPr>
            </a:pPr>
            <a:r>
              <a:t>Открывал личные растения и календарь.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11E3E-5008-49D8-BC0C-F29A983C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53865"/>
            <a:ext cx="12595098" cy="1207770"/>
          </a:xfrm>
          <a:prstGeom xmlns:a="http://schemas.openxmlformats.org/drawingml/2006/main" prst="roundRect">
            <a:avLst>
              <a:gd name="adj" fmla="val 18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FB16F5-7637-4269-B19D-5CF66025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0723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65B"/>
          </a:solidFill>
          <a:ln xmlns:a="http://schemas.openxmlformats.org/drawingml/2006/main" w="0">
            <a:solidFill>
              <a:srgbClr val="F6C6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4E3861-2B50-422E-BD31-B2C6CB7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365"/>
            <a:ext cx="237753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Как отвечать про 0% ошибок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A8BE2-2B60-4D2A-92E1-681B450D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51095"/>
            <a:ext cx="12214098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0% failures на коротком локальном smoke-тесте — нормально. В production это возможно при нагрузке ниже лимита, но серьезный stress-тест смотрит p95/p99 latency, CPU, память, БД и логи.</a:t>
            </a:r>
          </a:p>
        </p:txBody>
      </p:sp>
    </p:spTree>
    <p:extLst>
      <p:ext uri="{BB962C8B-B14F-4D97-AF65-F5344CB8AC3E}">
        <p14:creationId xmlns:p14="http://schemas.microsoft.com/office/powerpoint/2010/main" val="11473442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70633-0967-4467-B880-397C9745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8"/>
          </a:solidFill>
          <a:ln xmlns:a="http://schemas.openxmlformats.org/drawingml/2006/main" w="0">
            <a:solidFill>
              <a:srgbClr val="E7F4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04286-8D5E-4E3C-BFA9-90B3C839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2"/>
          </a:solidFill>
          <a:ln xmlns:a="http://schemas.openxmlformats.org/drawingml/2006/main" w="0">
            <a:solidFill>
              <a:srgbClr val="DFF3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A926D-6D62-403D-9167-8AC5B729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6A4F"/>
                </a:solidFill>
              </a:defRPr>
            </a:pPr>
            <a:r>
              <a:t>Defense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F473B-A7A9-4F3D-A8B8-544523C5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541145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916C"/>
                </a:solidFill>
              </a:defRPr>
            </a:pPr>
            <a:r>
              <a:t>ЧТО СКАЗАТЬ В КОНЦЕ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740C5-0073-4BFD-9441-37233B77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9190"/>
            <a:ext cx="104775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92B"/>
                </a:solidFill>
              </a:defRPr>
            </a:pPr>
            <a:r>
              <a:t>Финальный ответ: это цельный MVP с понятными границами production-доработок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1B2A1-8A21-44B2-A549-007A6512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524500" cy="40957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18392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1C1E-C2A9-4F68-A911-C42BDDC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240411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t>30-секундный скрипт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38BA4-4209-42F8-8AD9-C52D551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404110" cy="3291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FFF5"/>
                </a:solidFill>
              </a:defRPr>
            </a:pPr>
            <a:r>
              <a:t>PlantCare — React + TypeScript frontend, Django REST Framework backend и SQLite/PostgreSQL БД. Авторизация сделана через JWT в HttpOnly cookies, личные данные защищены queryset-фильтрацией по владельцу. Есть каталог, растения, календарь, история ухода, коллекции many-to-many, CSV-импорт и Open-Meteo. Проверки: 16 tests, 92% coverage, OpenAPI, frontend build, Docker config и Locust smoke.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3A3CE-50DF-49BC-B29A-A68F839E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124450" cy="197167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26F0C-F428-4427-B628-A1EB7594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599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95FB0-747D-4A4B-8387-83860674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43125"/>
            <a:ext cx="1921383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Что особенно защитить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4C41F-B13F-48FD-841D-DA4D9671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9855"/>
            <a:ext cx="246907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JWT есть; cookie — способ безопаснее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хранить токен в браузере.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CSRF: для JWT-cookie API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production-усиление — явный token.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D33B8-FA2A-4432-909E-E940C44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5124450" cy="197167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006A3-08B5-42DE-AF1E-6D8E6137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0065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65B"/>
          </a:solidFill>
          <a:ln xmlns:a="http://schemas.openxmlformats.org/drawingml/2006/main" w="0">
            <a:solidFill>
              <a:srgbClr val="F6C6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84377-919F-4092-B58E-7DF9721F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2029682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92B"/>
                </a:solidFill>
              </a:defRPr>
            </a:pPr>
            <a:r>
              <a:t>Что улучшить после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BFC37-2147-4CF1-88B6-FA0E4B96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73930"/>
            <a:ext cx="241011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HTTPS + Secure cookies,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rate limiting auth/import,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refresh blacklist, validate_password,</a:t>
            </a:r>
          </a:p>
          <a:p xmlns:a="http://schemas.openxmlformats.org/drawingml/2006/main">
            <a:pPr>
              <a:defRPr sz="1050">
                <a:solidFill>
                  <a:srgbClr val="24332C"/>
                </a:solidFill>
              </a:defRPr>
            </a:pPr>
            <a:r>
              <a:t>cache прогноза и длинный Locust test.</a:t>
            </a:r>
          </a:p>
        </p:txBody>
      </p:sp>
    </p:spTree>
    <p:extLst>
      <p:ext uri="{BB962C8B-B14F-4D97-AF65-F5344CB8AC3E}">
        <p14:creationId xmlns:p14="http://schemas.microsoft.com/office/powerpoint/2010/main" val="170169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2026-06-04T14:51:37.1410000Z</dcterms:created>
  <dcterms:modified xsi:type="dcterms:W3CDTF">2026-06-04T14:51:37.1410000Z</dcterms:modified>
</coreProperties>
</file>